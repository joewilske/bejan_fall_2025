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6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0" y="17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2AA1E-ECD6-4CC7-A5C9-2300F5490B3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12B42-F55F-4641-BF39-CA68B0CBA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7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12B42-F55F-4641-BF39-CA68B0CBAE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3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171C-DCC8-94FA-063C-ACEE608AE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F4CEC-1C54-EB8F-2993-9634A4084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BF755-288B-AAFF-9ED3-4DE4EA63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1A88F-4FBC-D8F9-5D7D-525C95CE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1A27-72ED-C767-A267-14170ECA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2AD9-19A5-8747-4BC3-E0A154FC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74A4-616D-6B69-2DD0-ADA82C8D2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7059-EDF8-C162-CDCC-C5510678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B902-9F9F-1BE3-4DC6-8988360E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AFB4B-E60F-3E7F-FAD0-A4C23D1A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4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8055-1662-116E-BFAC-AB462A5E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67214-17D1-7223-7241-61961ACD5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DDF70-74E0-EFDA-DDA3-01EC130F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A55D-03B5-9338-A4A3-E72B9343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D651-C3A2-DDFD-85ED-71F7B3F8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6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5349-BACC-B3F3-2CE8-0AD3285F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998D-27C2-5AAC-9833-9A783096B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2BA87-7B71-D28A-FE93-E0474AA2D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90187-FAD1-7377-5452-723C50E4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1BAA7-0DEB-7FB5-250B-2374F751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66963-DB9D-2032-5E0F-6152E7D3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2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3955-77F9-FEF1-4CC3-1753447A9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70C27-650F-DAE8-789E-21FC27B4D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9FECE-3E7E-000F-8CAE-FE83F2F7A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56A5F-CA69-8F22-24A4-CFCE6B5A0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85287-93BB-DAF9-9A51-AC58F4AAF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677FA-2609-EF8E-41BE-6D468EB5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11867-C062-7D6E-B1F0-E92BF41F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865D26-790A-3957-32D6-C2848980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63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BBDF-0CD0-EBAA-23EC-E3ADF6E1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2F817-256F-7761-CFA8-3DE88032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8D544-BA07-742A-628F-EBE238C6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37EBE-6561-8C3F-0DBE-BBF1F18B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6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37ABA-2B38-C822-B935-E72D46193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09B65-F700-4B32-3DE7-FF6B381B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7D38C-5920-33A7-2154-D5162202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0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F506-E985-2A19-1D9B-7588CE84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18BB-078F-B90E-DC44-54BCE780A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9264B-2069-7142-B5A7-23350BD0D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09F83-0753-F6B2-F562-07E43780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92823-7E7A-91FB-4A15-DADEB7C8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E5541-A019-EE39-B8F5-04CA67B2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3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2C07-A65C-BC17-FB13-491E88C4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AA23E-176E-B8B6-4275-D57B3F38F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BCCD8-CAF8-D646-1719-EEF587D01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09C3C-3444-C4C6-8266-8E84B826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207E0-09EE-BF9B-CBA7-816803FC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7A9F5-655B-717C-7FA3-6AF7E8E2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6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6800-81A8-7612-B604-B728D17E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B629E-BB34-28F6-D7EC-B8D584924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9337B-3529-D1C4-2B71-3ABAECE8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C7417-820B-92F3-0AFE-51CD649FB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AE36-9901-71BA-2026-D80B14C0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2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F09F2-E113-E150-B385-0C635FC8E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29EA6-4602-0BF1-58E2-D7E361CE5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D951C-0F75-7B47-2D5A-3F99D2BE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904D7-0AE5-EC07-6A6F-F75D3253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4BC0-E36E-4806-419F-E8B2AFC4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37CFB-7D3E-D6AB-8F91-0FA467A9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85F69-3A7B-ADBA-9C46-749A21D63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F4938-DF34-9D15-AB39-45033B6BA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6A311-57AA-4671-A805-EC027C73C8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0AA61-26D1-26A6-C44D-D071A5D66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31C36-56CD-3B39-0D56-C00AA44B9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36912-0ED2-413A-B9BD-09FAD134B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4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 Brace 3">
            <a:extLst>
              <a:ext uri="{FF2B5EF4-FFF2-40B4-BE49-F238E27FC236}">
                <a16:creationId xmlns:a16="http://schemas.microsoft.com/office/drawing/2014/main" id="{DB91BDEF-1AB9-01B6-5C85-5633D1C3CC4F}"/>
              </a:ext>
            </a:extLst>
          </p:cNvPr>
          <p:cNvSpPr/>
          <p:nvPr/>
        </p:nvSpPr>
        <p:spPr>
          <a:xfrm rot="5400000">
            <a:off x="5570491" y="-890320"/>
            <a:ext cx="454980" cy="5297171"/>
          </a:xfrm>
          <a:prstGeom prst="leftBrace">
            <a:avLst>
              <a:gd name="adj1" fmla="val 25000"/>
              <a:gd name="adj2" fmla="val 4521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1C2F8-3350-89D2-D0DC-41DDAD2751E7}"/>
              </a:ext>
            </a:extLst>
          </p:cNvPr>
          <p:cNvSpPr txBox="1"/>
          <p:nvPr/>
        </p:nvSpPr>
        <p:spPr>
          <a:xfrm>
            <a:off x="4668526" y="948232"/>
            <a:ext cx="2763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Civilian Noninstitutional Population 16 and Older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9F688-4025-2198-1370-41011AA0B683}"/>
              </a:ext>
            </a:extLst>
          </p:cNvPr>
          <p:cNvSpPr txBox="1"/>
          <p:nvPr/>
        </p:nvSpPr>
        <p:spPr>
          <a:xfrm>
            <a:off x="2423217" y="1966605"/>
            <a:ext cx="145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Labor Force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7CEB6-113F-CF68-1958-F28F34C87CCB}"/>
              </a:ext>
            </a:extLst>
          </p:cNvPr>
          <p:cNvSpPr txBox="1"/>
          <p:nvPr/>
        </p:nvSpPr>
        <p:spPr>
          <a:xfrm>
            <a:off x="7011053" y="1985755"/>
            <a:ext cx="287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 in Labor Force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00065AC-17EB-95A3-73D9-6A1F3200101D}"/>
              </a:ext>
            </a:extLst>
          </p:cNvPr>
          <p:cNvSpPr/>
          <p:nvPr/>
        </p:nvSpPr>
        <p:spPr>
          <a:xfrm rot="5400000">
            <a:off x="3036646" y="1019725"/>
            <a:ext cx="388484" cy="3020907"/>
          </a:xfrm>
          <a:prstGeom prst="leftBrace">
            <a:avLst>
              <a:gd name="adj1" fmla="val 25000"/>
              <a:gd name="adj2" fmla="val 5319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99CD91-70DD-F989-CCC1-7E8E52FBBD3B}"/>
              </a:ext>
            </a:extLst>
          </p:cNvPr>
          <p:cNvSpPr txBox="1"/>
          <p:nvPr/>
        </p:nvSpPr>
        <p:spPr>
          <a:xfrm>
            <a:off x="167175" y="2708107"/>
            <a:ext cx="3105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Employed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Full-time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Part-time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Temp/gig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“Unpaid family workers”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“Underemployed” workers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BBD34-8899-598D-D2FF-16C612435A5C}"/>
              </a:ext>
            </a:extLst>
          </p:cNvPr>
          <p:cNvSpPr txBox="1"/>
          <p:nvPr/>
        </p:nvSpPr>
        <p:spPr>
          <a:xfrm>
            <a:off x="3365056" y="2705642"/>
            <a:ext cx="2763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Unemployed</a:t>
            </a:r>
          </a:p>
          <a:p>
            <a:r>
              <a:rPr lang="en-US" dirty="0"/>
              <a:t>No job, and attempted to find a job in the last 4 weeks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59CFFA8-C679-3633-8C6B-62154CBE45B0}"/>
              </a:ext>
            </a:extLst>
          </p:cNvPr>
          <p:cNvSpPr/>
          <p:nvPr/>
        </p:nvSpPr>
        <p:spPr>
          <a:xfrm rot="5400000">
            <a:off x="8907333" y="993247"/>
            <a:ext cx="350553" cy="3074235"/>
          </a:xfrm>
          <a:prstGeom prst="leftBrace">
            <a:avLst>
              <a:gd name="adj1" fmla="val 25000"/>
              <a:gd name="adj2" fmla="val 7041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DF3DF-74D2-9B2B-49CD-A4ECC39416F4}"/>
              </a:ext>
            </a:extLst>
          </p:cNvPr>
          <p:cNvSpPr txBox="1"/>
          <p:nvPr/>
        </p:nvSpPr>
        <p:spPr>
          <a:xfrm>
            <a:off x="6109988" y="2705640"/>
            <a:ext cx="28710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Marginally Attached Workers</a:t>
            </a:r>
          </a:p>
          <a:p>
            <a:r>
              <a:rPr lang="en-US" dirty="0"/>
              <a:t>No job, has not attempted to find a job in the last 4 weeks,  but </a:t>
            </a:r>
            <a:r>
              <a:rPr lang="en-US" i="1" dirty="0"/>
              <a:t>has</a:t>
            </a:r>
            <a:r>
              <a:rPr lang="en-US" dirty="0"/>
              <a:t> attempted to find a job in the last year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00FFBD-6DDE-D6D6-E2E1-C82267490423}"/>
              </a:ext>
            </a:extLst>
          </p:cNvPr>
          <p:cNvSpPr txBox="1"/>
          <p:nvPr/>
        </p:nvSpPr>
        <p:spPr>
          <a:xfrm>
            <a:off x="9028862" y="2701947"/>
            <a:ext cx="3162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Other </a:t>
            </a:r>
            <a:r>
              <a:rPr lang="en-US" b="1" dirty="0" err="1"/>
              <a:t>NiLF</a:t>
            </a:r>
            <a:endParaRPr lang="en-US" b="1" dirty="0"/>
          </a:p>
          <a:p>
            <a:r>
              <a:rPr lang="en-US" dirty="0"/>
              <a:t>No job, and has not attempted to find a job in over a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Retirees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Stay-at-home parents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FE0386B-000A-2AD9-A8D2-E6A67B9900E5}"/>
              </a:ext>
            </a:extLst>
          </p:cNvPr>
          <p:cNvSpPr/>
          <p:nvPr/>
        </p:nvSpPr>
        <p:spPr>
          <a:xfrm rot="5400000">
            <a:off x="8159315" y="2751953"/>
            <a:ext cx="350555" cy="3759201"/>
          </a:xfrm>
          <a:prstGeom prst="leftBrace">
            <a:avLst>
              <a:gd name="adj1" fmla="val 25000"/>
              <a:gd name="adj2" fmla="val 70878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80F440-4066-38DE-AFE1-EE328E41E20F}"/>
              </a:ext>
            </a:extLst>
          </p:cNvPr>
          <p:cNvSpPr txBox="1"/>
          <p:nvPr/>
        </p:nvSpPr>
        <p:spPr>
          <a:xfrm>
            <a:off x="3955202" y="4825521"/>
            <a:ext cx="5073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Discouraged Workers</a:t>
            </a:r>
          </a:p>
          <a:p>
            <a:r>
              <a:rPr lang="en-US" dirty="0"/>
              <a:t>Not currently looking for job because of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Belief of job unavailability,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failure to find a job,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education/training for available jobs,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Discrimination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E2EA4D-EF93-CDB4-6AFE-F5D2EC05E572}"/>
              </a:ext>
            </a:extLst>
          </p:cNvPr>
          <p:cNvSpPr txBox="1"/>
          <p:nvPr/>
        </p:nvSpPr>
        <p:spPr>
          <a:xfrm>
            <a:off x="9140621" y="4845842"/>
            <a:ext cx="2147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Other MAW</a:t>
            </a:r>
          </a:p>
          <a:p>
            <a:r>
              <a:rPr lang="en-US" dirty="0"/>
              <a:t>Not currently looking for a job for other reasons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59E85512-D418-B431-9A56-1E6999130251}"/>
              </a:ext>
            </a:extLst>
          </p:cNvPr>
          <p:cNvSpPr/>
          <p:nvPr/>
        </p:nvSpPr>
        <p:spPr>
          <a:xfrm rot="5400000">
            <a:off x="3105276" y="-2022700"/>
            <a:ext cx="592849" cy="5297171"/>
          </a:xfrm>
          <a:prstGeom prst="leftBrace">
            <a:avLst>
              <a:gd name="adj1" fmla="val 25000"/>
              <a:gd name="adj2" fmla="val 49302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B5883-8114-858A-1061-2905C5AA88C1}"/>
              </a:ext>
            </a:extLst>
          </p:cNvPr>
          <p:cNvSpPr txBox="1"/>
          <p:nvPr/>
        </p:nvSpPr>
        <p:spPr>
          <a:xfrm>
            <a:off x="-47405" y="929083"/>
            <a:ext cx="2113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Military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Institutionalized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 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780093-7FAB-E8AC-0067-B2567844B58C}"/>
              </a:ext>
            </a:extLst>
          </p:cNvPr>
          <p:cNvSpPr txBox="1"/>
          <p:nvPr/>
        </p:nvSpPr>
        <p:spPr>
          <a:xfrm>
            <a:off x="2512916" y="7539"/>
            <a:ext cx="189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Population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A48800-6CD1-41E9-39D9-5043376D6EC8}"/>
              </a:ext>
            </a:extLst>
          </p:cNvPr>
          <p:cNvSpPr txBox="1"/>
          <p:nvPr/>
        </p:nvSpPr>
        <p:spPr>
          <a:xfrm>
            <a:off x="-48486" y="5928917"/>
            <a:ext cx="3197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U.S. Bureau of Labor Statistics (Accessed November 2025)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70338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162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Wilske</dc:creator>
  <cp:lastModifiedBy>Joe Wilske</cp:lastModifiedBy>
  <cp:revision>8</cp:revision>
  <dcterms:created xsi:type="dcterms:W3CDTF">2025-11-18T16:59:48Z</dcterms:created>
  <dcterms:modified xsi:type="dcterms:W3CDTF">2025-11-18T22:18:41Z</dcterms:modified>
</cp:coreProperties>
</file>